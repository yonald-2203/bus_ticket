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B1616"/>
          </a:solidFill>
          <a:ln w="12700">
            <a:solidFill>
              <a:srgbClr val="7B16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🚌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828800" y="9601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SwiftRoute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828800" y="199339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Ticket Booking System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828800" y="2606040"/>
            <a:ext cx="5303520" cy="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72491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8  ·  Angular 21  ·  SQL Server  ·  JWT  ·  EF Core  ·  Tailwind CSS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0" y="3200400"/>
            <a:ext cx="1737360" cy="365760"/>
          </a:xfrm>
          <a:prstGeom prst="roundRect">
            <a:avLst>
              <a:gd name="adj" fmla="val 17500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Customer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49040" y="3200400"/>
            <a:ext cx="1737360" cy="365760"/>
          </a:xfrm>
          <a:prstGeom prst="roundRect">
            <a:avLst>
              <a:gd name="adj" fmla="val 17500"/>
            </a:avLst>
          </a:prstGeom>
          <a:solidFill>
            <a:srgbClr val="7B1616"/>
          </a:solidFill>
          <a:ln w="12700">
            <a:solidFill>
              <a:srgbClr val="7B16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 Operator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3200400"/>
            <a:ext cx="1737360" cy="365760"/>
          </a:xfrm>
          <a:prstGeom prst="roundRect">
            <a:avLst>
              <a:gd name="adj" fmla="val 17500"/>
            </a:avLst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Admin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F0"/>
          </a:solidFill>
          <a:ln w="12700">
            <a:solidFill>
              <a:srgbClr val="FAF5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SwiftRoute and why does it exist?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the Project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SwiftRoute is a production-grade, full-stack bus ticket booking platform.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search buses, pick seats, enter passenger details and pay — all in one flow.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manage their fleet, create routes and publish schedules.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C9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approve operators, manage stops and monitor all system activity.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1325880"/>
            <a:ext cx="3840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1325880"/>
            <a:ext cx="73152" cy="10789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0" y="1618488"/>
            <a:ext cx="493776" cy="49377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6184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15000" y="14904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0" y="18745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Book · Pay · Cancel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2532888"/>
            <a:ext cx="3840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2532888"/>
            <a:ext cx="73152" cy="1078992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2825496"/>
            <a:ext cx="493776" cy="493776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28254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715000" y="26974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0" y="30815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Buses · Routes · Schedules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3739896"/>
            <a:ext cx="3840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3739896"/>
            <a:ext cx="73152" cy="1078992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4032504"/>
            <a:ext cx="493776" cy="493776"/>
          </a:xfrm>
          <a:prstGeom prst="ellipse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40325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715000" y="39044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15000" y="42885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· Monitor · Manage Stops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F0"/>
          </a:solidFill>
          <a:ln w="12700">
            <a:solidFill>
              <a:srgbClr val="FAF5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frameworks powering SwiftRoute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0" cy="3749040"/>
          </a:xfrm>
          <a:prstGeom prst="line">
            <a:avLst/>
          </a:prstGeom>
          <a:noFill/>
          <a:ln w="12700">
            <a:solidFill>
              <a:srgbClr val="E8E0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188720"/>
            <a:ext cx="1371600" cy="2926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88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1371600" cy="292608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188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627632"/>
            <a:ext cx="502920" cy="5029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16367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ASP.NET Core 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18928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 framework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167128"/>
            <a:ext cx="502920" cy="5029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21762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Server + EF Core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2432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ORM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706624"/>
            <a:ext cx="502920" cy="502920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706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8680" y="2715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JWT Bearer Tokens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2971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authentication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246120"/>
            <a:ext cx="502920" cy="502920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68680" y="3255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PBKDF2 Password Hash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35112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Identity Hasher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785616"/>
            <a:ext cx="502920" cy="502920"/>
          </a:xfrm>
          <a:prstGeom prst="ellipse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785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68680" y="37947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Swagger / OpenAPI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68680" y="4050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API documentation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4325112"/>
            <a:ext cx="502920" cy="502920"/>
          </a:xfrm>
          <a:prstGeom prst="ellipse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325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68680" y="4334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Generic Repository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68680" y="4590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IRepository&lt;T&gt; pattern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1627632"/>
            <a:ext cx="502920" cy="5029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🅰️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440680" y="16367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Angular 21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40680" y="18928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 SPA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46320" y="2167128"/>
            <a:ext cx="502920" cy="5029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440680" y="21762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TypeScript 5.9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40680" y="2432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typed frontend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46320" y="2706624"/>
            <a:ext cx="502920" cy="502920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2706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5440680" y="2715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Tailwind CSS 3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40680" y="2971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styling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46320" y="3246120"/>
            <a:ext cx="502920" cy="502920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5440680" y="3255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Angular Signals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440680" y="35112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state management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846320" y="3785616"/>
            <a:ext cx="502920" cy="502920"/>
          </a:xfrm>
          <a:prstGeom prst="ellipse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46320" y="3785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5440680" y="37947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 Interceptor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440680" y="4050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JWT attachment + 401 handling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846320" y="4325112"/>
            <a:ext cx="502920" cy="502920"/>
          </a:xfrm>
          <a:prstGeom prst="ellipse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46320" y="4325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5440680" y="4334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Jasmine + Karma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440680" y="4590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framework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F0"/>
          </a:solidFill>
          <a:ln w="12700">
            <a:solidFill>
              <a:srgbClr val="FAF5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layers connect end-to-end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5852160" cy="566928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527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Angular 21 Frontend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51790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· Services · Guards · Interceptors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801368"/>
            <a:ext cx="0" cy="109728"/>
          </a:xfrm>
          <a:prstGeom prst="line">
            <a:avLst/>
          </a:prstGeom>
          <a:noFill/>
          <a:ln w="19050">
            <a:solidFill>
              <a:srgbClr val="E8E0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911096"/>
            <a:ext cx="585216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293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ASP.NET Core 8 Web 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219456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· Middleware · Swagger · JWT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2478024"/>
            <a:ext cx="0" cy="109728"/>
          </a:xfrm>
          <a:prstGeom prst="line">
            <a:avLst/>
          </a:prstGeom>
          <a:noFill/>
          <a:ln w="19050">
            <a:solidFill>
              <a:srgbClr val="E8E0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587752"/>
            <a:ext cx="5852160" cy="56692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2871216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· Validation · Domain Rules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3154680"/>
            <a:ext cx="0" cy="109728"/>
          </a:xfrm>
          <a:prstGeom prst="line">
            <a:avLst/>
          </a:prstGeom>
          <a:noFill/>
          <a:ln w="19050">
            <a:solidFill>
              <a:srgbClr val="E8E0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264408"/>
            <a:ext cx="5852160" cy="566928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282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Repository Pattern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54787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IRepository&lt;T&gt; · Generic CRUD · EF Core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3831336"/>
            <a:ext cx="0" cy="109728"/>
          </a:xfrm>
          <a:prstGeom prst="line">
            <a:avLst/>
          </a:prstGeom>
          <a:noFill/>
          <a:ln w="19050">
            <a:solidFill>
              <a:srgbClr val="E8E0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941064"/>
            <a:ext cx="5852160" cy="56692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593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Server Database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224528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Tables · Indexes · Transactions · EF Migrations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12344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Cross-Cutting Concerns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92240" y="1645920"/>
            <a:ext cx="2423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1664208"/>
            <a:ext cx="411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67728" y="17556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CORS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92240" y="2276856"/>
            <a:ext cx="2423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2295144"/>
            <a:ext cx="411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967728" y="23865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92240" y="2907792"/>
            <a:ext cx="2423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2926080"/>
            <a:ext cx="411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967728" y="30175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Exceptions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92240" y="3538728"/>
            <a:ext cx="2423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3557016"/>
            <a:ext cx="411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967728" y="36484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Guard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4169664"/>
            <a:ext cx="2423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37960" y="4187952"/>
            <a:ext cx="411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967728" y="42793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Serializable TX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F0"/>
          </a:solidFill>
          <a:ln w="12700">
            <a:solidFill>
              <a:srgbClr val="FAF5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tables — Code-First with Entity Framework Core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325880"/>
            <a:ext cx="2788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325880"/>
            <a:ext cx="2788920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" y="133502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" y="1627632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username · email · role · passwordHash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2788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325880"/>
            <a:ext cx="2788920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33502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BusOperators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9272" y="1627632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userId · companyName · supportPhone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63640" y="1325880"/>
            <a:ext cx="2788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4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325880"/>
            <a:ext cx="2788920" cy="274320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6792" y="133502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27632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operatorId · code · busType · totalSeats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2350008"/>
            <a:ext cx="2788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4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2350008"/>
            <a:ext cx="2788920" cy="274320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" y="235915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1752" y="26517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city · name  (unique: city+name)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46120" y="2350008"/>
            <a:ext cx="2788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2350008"/>
            <a:ext cx="2788920" cy="2743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9272" y="235915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BusRoutes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19272" y="26517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operatorId · routeCode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263640" y="2350008"/>
            <a:ext cx="2788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2350008"/>
            <a:ext cx="2788920" cy="2743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6792" y="235915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RouteStops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36792" y="26517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routeId · stopId · order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8600" y="3374136"/>
            <a:ext cx="2788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988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" y="3374136"/>
            <a:ext cx="2788920" cy="274320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" y="338328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BusSchedules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01752" y="367588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busId · routeId · departureUtc · basePrice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46120" y="3374136"/>
            <a:ext cx="2788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988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46120" y="3374136"/>
            <a:ext cx="2788920" cy="274320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19272" y="338328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Bookings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19272" y="367588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userId · scheduleId · status · totalAmount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263640" y="3374136"/>
            <a:ext cx="2788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7B161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63640" y="3374136"/>
            <a:ext cx="2788920" cy="274320"/>
          </a:xfrm>
          <a:prstGeom prst="rect">
            <a:avLst/>
          </a:prstGeom>
          <a:solidFill>
            <a:srgbClr val="7B1616"/>
          </a:solidFill>
          <a:ln w="12700">
            <a:solidFill>
              <a:srgbClr val="7B16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36792" y="338328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BookingPassengers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36792" y="367588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bookingId · name · age · seatNo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28600" y="4398264"/>
            <a:ext cx="2788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7B161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8600" y="4398264"/>
            <a:ext cx="2788920" cy="274320"/>
          </a:xfrm>
          <a:prstGeom prst="rect">
            <a:avLst/>
          </a:prstGeom>
          <a:solidFill>
            <a:srgbClr val="7B1616"/>
          </a:solidFill>
          <a:ln w="12700">
            <a:solidFill>
              <a:srgbClr val="7B161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" y="44074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01752" y="470001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bookingId · amount · providerReference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246120" y="4398264"/>
            <a:ext cx="2788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36454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46120" y="4398264"/>
            <a:ext cx="2788920" cy="27432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19272" y="44074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AuditLogs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319272" y="470001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logType · action · username · endpoint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F0"/>
          </a:solidFill>
          <a:ln w="12700">
            <a:solidFill>
              <a:srgbClr val="FAF5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Booking Flow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from search to confirmed ticket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" y="1188720"/>
            <a:ext cx="822960" cy="822960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208483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240487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/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Date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353312" y="1600200"/>
            <a:ext cx="384048" cy="0"/>
          </a:xfrm>
          <a:prstGeom prst="line">
            <a:avLst/>
          </a:prstGeom>
          <a:noFill/>
          <a:ln w="25400">
            <a:solidFill>
              <a:srgbClr val="E8E0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75104" y="1188720"/>
            <a:ext cx="822960" cy="822960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75104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19072" y="208483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19072" y="240487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list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prices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98064" y="1600200"/>
            <a:ext cx="384048" cy="0"/>
          </a:xfrm>
          <a:prstGeom prst="line">
            <a:avLst/>
          </a:prstGeom>
          <a:noFill/>
          <a:ln w="25400">
            <a:solidFill>
              <a:srgbClr val="E8E0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19856" y="1188720"/>
            <a:ext cx="822960" cy="82296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9856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163824" y="208483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Seat Map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63824" y="240487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seats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42816" y="1600200"/>
            <a:ext cx="384048" cy="0"/>
          </a:xfrm>
          <a:prstGeom prst="line">
            <a:avLst/>
          </a:prstGeom>
          <a:noFill/>
          <a:ln w="25400">
            <a:solidFill>
              <a:srgbClr val="E8E0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64608" y="1188720"/>
            <a:ext cx="822960" cy="82296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608576" y="208483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Passengers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08576" y="240487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87568" y="1600200"/>
            <a:ext cx="384048" cy="0"/>
          </a:xfrm>
          <a:prstGeom prst="line">
            <a:avLst/>
          </a:prstGeom>
          <a:noFill/>
          <a:ln w="25400">
            <a:solidFill>
              <a:srgbClr val="E8E0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1188720"/>
            <a:ext cx="822960" cy="822960"/>
          </a:xfrm>
          <a:prstGeom prst="ellipse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053328" y="208483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53328" y="240487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locked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132320" y="1600200"/>
            <a:ext cx="384048" cy="0"/>
          </a:xfrm>
          <a:prstGeom prst="line">
            <a:avLst/>
          </a:prstGeom>
          <a:noFill/>
          <a:ln w="25400">
            <a:solidFill>
              <a:srgbClr val="E8E0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54112" y="1188720"/>
            <a:ext cx="822960" cy="82296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54112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498080" y="208483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98080" y="240487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→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3017520"/>
            <a:ext cx="8595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3017520"/>
            <a:ext cx="8595360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017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backend does during booking (Steps 5 &amp; 6)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11480" y="34015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Validate schedule exists &amp; not cancelled by operator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11480" y="38039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Check bus status = Available (not Under Repair)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11480" y="4206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Validate seat numbers within bus capacity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709160" y="34015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Open Serializable DB transaction — lock rows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709160" y="38039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Query if requested seats already booked — reject if taken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709160" y="4206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Save Booking + Passengers → commit → AuditLog written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F0"/>
          </a:solidFill>
          <a:ln w="12700">
            <a:solidFill>
              <a:srgbClr val="FAF5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Architecture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authorization and data protection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188720"/>
            <a:ext cx="283464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188720"/>
            <a:ext cx="283464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1887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1188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JWT Authentication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93192" y="1920240"/>
            <a:ext cx="182880" cy="1828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8105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HMAC-SHA256 signed token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93192" y="2487168"/>
            <a:ext cx="182880" cy="1828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37744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Payload: userId, username, role, expiry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3192" y="3054096"/>
            <a:ext cx="182880" cy="1828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4436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interceptor auto-attaches header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93192" y="3621024"/>
            <a:ext cx="182880" cy="1828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511296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response → auto logout + redirect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93192" y="4187952"/>
            <a:ext cx="182880" cy="1828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07822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ClockSkew: 1 min tolerance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0" y="1188720"/>
            <a:ext cx="283464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4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1188720"/>
            <a:ext cx="2834640" cy="502920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11887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794760" y="1188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364992" y="1920240"/>
            <a:ext cx="182880" cy="182880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18105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[Authorize(Roles="Admin")] on controllers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64992" y="2487168"/>
            <a:ext cx="182880" cy="182880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11880" y="237744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sees only their own buses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64992" y="3054096"/>
            <a:ext cx="182880" cy="182880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1880" y="294436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sees only their own bookings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64992" y="3621024"/>
            <a:ext cx="182880" cy="182880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3511296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PendingOperator: login only, no operator panel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364992" y="4187952"/>
            <a:ext cx="182880" cy="182880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11880" y="407822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guards mirror backend roles exactly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72200" y="1188720"/>
            <a:ext cx="283464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C988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1188720"/>
            <a:ext cx="2834640" cy="502920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11887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766560" y="1188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Protection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36792" y="1920240"/>
            <a:ext cx="182880" cy="182880"/>
          </a:xfrm>
          <a:prstGeom prst="ellipse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18105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password hashing (100k iterations)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36792" y="2487168"/>
            <a:ext cx="182880" cy="182880"/>
          </a:xfrm>
          <a:prstGeom prst="ellipse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237744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RowVersion concurrency token on all entities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36792" y="3054096"/>
            <a:ext cx="182880" cy="182880"/>
          </a:xfrm>
          <a:prstGeom prst="ellipse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294436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Serializable transaction — no double booking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336792" y="3621024"/>
            <a:ext cx="182880" cy="182880"/>
          </a:xfrm>
          <a:prstGeom prst="ellipse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0" y="3511296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indexes on username &amp; email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336792" y="4187952"/>
            <a:ext cx="182880" cy="182880"/>
          </a:xfrm>
          <a:prstGeom prst="ellipse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0" y="407822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policy limits allowed origins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F0"/>
          </a:solidFill>
          <a:ln w="12700">
            <a:solidFill>
              <a:srgbClr val="FAF5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 Built in This Session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fixed + 5 new features added on top of the core system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98448"/>
            <a:ext cx="64008" cy="8229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32688" y="137160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Remember Last Search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168249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saves From/To/Date — pre-filled on next visit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298448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298448"/>
            <a:ext cx="64008" cy="822960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367528" y="137160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User Management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67528" y="168249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table of all users with role filter &amp; live search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231136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31136"/>
            <a:ext cx="64008" cy="8229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386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32688" y="230428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 Booking Stats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2688" y="261518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bookings, confirmed count &amp; revenue on the dashboard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231136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2231136"/>
            <a:ext cx="64008" cy="822960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386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67528" y="230428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 Bookings Pagination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67528" y="261518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per page with prev/next — resets correctly on tab switch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163824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163824"/>
            <a:ext cx="64008" cy="8229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32688" y="323697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 Type Badges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2688" y="35478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Seater/AC/Sleeper badge + seat count shown on search cards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3163824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3163824"/>
            <a:ext cx="64008" cy="822960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367528" y="323697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 Update Fix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67528" y="35478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busId + routeId now correctly sent on edit — was failing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096512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4096512"/>
            <a:ext cx="64008" cy="8229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932688" y="416966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 Approval Flow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32688" y="44805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PendingOperator role, admin approve/reject, inline form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09160" y="4096512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4096512"/>
            <a:ext cx="64008" cy="822960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⏳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5367528" y="416966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Pending Status Banner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367528" y="44805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shows orange banner for pending operator accounts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C62828">
              <a:alpha val="12000"/>
            </a:srgbClr>
          </a:solidFill>
          <a:ln w="12700">
            <a:solidFill>
              <a:srgbClr val="C6282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1D3461">
              <a:alpha val="12000"/>
            </a:srgbClr>
          </a:solidFill>
          <a:ln w="12700">
            <a:solidFill>
              <a:srgbClr val="1D3461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76272" y="6400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176272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03904" y="6400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9+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803904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31536" y="6400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20+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5431536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59168" y="6400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50+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7059168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1828800"/>
            <a:ext cx="8046720" cy="0"/>
          </a:xfrm>
          <a:prstGeom prst="line">
            <a:avLst/>
          </a:prstGeom>
          <a:noFill/>
          <a:ln w="12700">
            <a:solidFill>
              <a:srgbClr val="2D37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0116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91440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SwiftRoute — ASP.NET Core 8  ·  Angular 21  ·  SQL Server  ·  JWT  ·  EF Core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0" y="4069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SwiftRoute - Bus Ticket Booking System</dc:title>
  <dc:subject>PptxGenJS Presentation</dc:subject>
  <dc:creator>PptxGenJS</dc:creator>
  <cp:lastModifiedBy>PptxGenJS</cp:lastModifiedBy>
  <cp:revision>1</cp:revision>
  <dcterms:created xsi:type="dcterms:W3CDTF">2026-03-22T12:28:55Z</dcterms:created>
  <dcterms:modified xsi:type="dcterms:W3CDTF">2026-03-22T12:28:55Z</dcterms:modified>
</cp:coreProperties>
</file>